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60120"/>
          </a:xfrm>
          <a:prstGeom prst="rect">
            <a:avLst/>
          </a:prstGeom>
          <a:solidFill>
            <a:srgbClr val="1E3A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01168"/>
            <a:ext cx="113690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FBF7F0"/>
                </a:solidFill>
              </a:rPr>
              <a:t>1. Title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34440"/>
            <a:ext cx="112776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>
                <a:solidFill>
                  <a:srgbClr val="1C1712"/>
                </a:solidFill>
              </a:rPr>
              <a:t>TradeFlow AI. Track: Reinvent Commerce.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1C1712"/>
                </a:solidFill>
              </a:rPr>
              <a:t>Small cross-border sellers lose margin negotiating factory quotes alone, or pay an agent to do it.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1C1712"/>
                </a:solidFill>
              </a:rPr>
              <a:t>One operator. The engine sets the price. A human sends the offer.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1C1712"/>
                </a:solidFill>
              </a:rPr>
              <a:t>Prototype. No factory has closed a deal through this.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1C1712"/>
                </a:solidFill>
              </a:rPr>
              <a:t>Public repo: https://github.com/Fu93/tradeflow-ai. License: MIT.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60120"/>
          </a:xfrm>
          <a:prstGeom prst="rect">
            <a:avLst/>
          </a:prstGeom>
          <a:solidFill>
            <a:srgbClr val="1E3A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01168"/>
            <a:ext cx="113690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FBF7F0"/>
                </a:solidFill>
              </a:rPr>
              <a:t>2.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34440"/>
            <a:ext cx="112776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>
                <a:solidFill>
                  <a:srgbClr val="1C1712"/>
                </a:solidFill>
              </a:rPr>
              <a:t>Cross-border buyers either negotiate alone, often with a language penalty, or pay an agent.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1C1712"/>
                </a:solidFill>
              </a:rPr>
              <a:t>TradeFlow is a prototype of a third arrangement: one operator, software doing the arithmetic, the person keeping the send button.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1C1712"/>
                </a:solidFill>
              </a:rPr>
              <a:t>It is not a deployed company and it has not bought from a real factory.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60120"/>
          </a:xfrm>
          <a:prstGeom prst="rect">
            <a:avLst/>
          </a:prstGeom>
          <a:solidFill>
            <a:srgbClr val="1E3A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01168"/>
            <a:ext cx="113690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FBF7F0"/>
                </a:solidFill>
              </a:rPr>
              <a:t>3. Market, revenue, competition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34440"/>
            <a:ext cx="112776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>
                <a:solidFill>
                  <a:srgbClr val="1C1712"/>
                </a:solidFill>
              </a:rPr>
              <a:t>Target user is a hypothesis: a small cross-border seller who sources from factories and negotiates in chat.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1C1712"/>
                </a:solidFill>
              </a:rPr>
              <a:t>HMRC 2025: 334,294 UK goods importers. SAM proxy 132,484 to 239,616 (formula in docs/MARKET_ANALYSIS.md).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1C1712"/>
                </a:solidFill>
              </a:rPr>
              <a:t>UK goods from China, 2025: GBP 69.7 billion (ONS/DBT). Includes precious metals and large corporates.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1C1712"/>
                </a:solidFill>
              </a:rPr>
              <a:t>Savings-pool ceiling GBP 1.05 billion to GBP 2.09 billion. Large-buyer 1.5 to 3 percent band. Not a TradeFlow result.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1C1712"/>
                </a:solidFill>
              </a:rPr>
              <a:t>Umbrellas (HS 6601) are the demo wedge. Other codes use the Comtrade preview script. Customs unit value is reference only and does not set the price.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1C1712"/>
                </a:solidFill>
              </a:rPr>
              <a:t>Revenue model, proposed and not earned: a desk subscription, or a share of savings versus the first-round best quote. No revenue is claimed.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1C1712"/>
                </a:solidFill>
              </a:rPr>
              <a:t>Public prices: Accio, and Alibaba RFQ free for buyers. Pactum, Keelvar, Fairmarkit, Jaggaer, Zycus, Globality are quote-based.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60120"/>
          </a:xfrm>
          <a:prstGeom prst="rect">
            <a:avLst/>
          </a:prstGeom>
          <a:solidFill>
            <a:srgbClr val="1E3A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01168"/>
            <a:ext cx="113690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FBF7F0"/>
                </a:solidFill>
              </a:rPr>
              <a:t>4. Split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34440"/>
            <a:ext cx="112776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>
                <a:solidFill>
                  <a:srgbClr val="1C1712"/>
                </a:solidFill>
              </a:rPr>
              <a:t>Hybrid desk. The criteria this workflow is written for are Hybrid, Becreatives, and Vibe Generation.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1C1712"/>
                </a:solidFill>
              </a:rPr>
              <a:t>Solver decides. The decision core does not ask a language model what to pay.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1C1712"/>
                </a:solidFill>
              </a:rPr>
              <a:t>Model phrases. An optional call can classify a message or draft wording.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1C1712"/>
                </a:solidFill>
              </a:rPr>
              <a:t>Human sends. The Chrome extension (Manifest V3) shows a card. It cannot press Send.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1C1712"/>
                </a:solidFill>
              </a:rPr>
              <a:t>Code: src/engine/solver.py, src/engine/multi_solver.py, extension/.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60120"/>
          </a:xfrm>
          <a:prstGeom prst="rect">
            <a:avLst/>
          </a:prstGeom>
          <a:solidFill>
            <a:srgbClr val="1E3A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01168"/>
            <a:ext cx="113690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FBF7F0"/>
                </a:solidFill>
              </a:rPr>
              <a:t>5. Decision core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34440"/>
            <a:ext cx="112776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>
                <a:solidFill>
                  <a:srgbClr val="1C1712"/>
                </a:solidFill>
              </a:rPr>
              <a:t>The next offer maximises expected landed saving minus incremental walk risk. It is a per-round heuristic, not a multi-round equilibrium.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1C1712"/>
                </a:solidFill>
              </a:rPr>
              <a:t>Read the recommended price and the breakdown probability off the dashboard you just captured.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1C1712"/>
                </a:solidFill>
              </a:rPr>
              <a:t>This slide does not state a latency. Use the number on the screen.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60120"/>
          </a:xfrm>
          <a:prstGeom prst="rect">
            <a:avLst/>
          </a:prstGeom>
          <a:solidFill>
            <a:srgbClr val="1E3A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01168"/>
            <a:ext cx="113690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FBF7F0"/>
                </a:solidFill>
              </a:rPr>
              <a:t>6. AMD language layer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34440"/>
            <a:ext cx="112776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>
                <a:solidFill>
                  <a:srgbClr val="1C1712"/>
                </a:solidFill>
              </a:rPr>
              <a:t>Sample endpoint: https://developer.amd.com.cn/radeon/api/v1.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1C1712"/>
                </a:solidFill>
              </a:rPr>
              <a:t>Committed log results/real_llm_benchmark_100.json (2026-10-15): model Qwen3.8-Flash-Next, 348 calls, average latency 16.81 s, cost $0.108444.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1C1712"/>
                </a:solidFill>
              </a:rPr>
              <a:t>That file does not store an HTTP status. status: ok from scripts/verify_amd_endpoint.py means that process received HTTP 200. skipped_no_credentials is not a successful check.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1C1712"/>
                </a:solidFill>
              </a:rPr>
              <a:t>The default model for a new Stage-2 call is Gemma-4-31B-IT. The committed log above is Qwen3.8-Flash-Next, not Gemma. No committed Gemma latency.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60120"/>
          </a:xfrm>
          <a:prstGeom prst="rect">
            <a:avLst/>
          </a:prstGeom>
          <a:solidFill>
            <a:srgbClr val="1E3A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01168"/>
            <a:ext cx="113690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FBF7F0"/>
                </a:solidFill>
              </a:rPr>
              <a:t>7. AMD compute layer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34440"/>
            <a:ext cx="112776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>
                <a:solidFill>
                  <a:srgbClr val="1C1712"/>
                </a:solidFill>
              </a:rPr>
              <a:t>TRADEFLOW_SOLVER_BACKEND selects NumPy (default) or a CuPy/ROCm request.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1C1712"/>
                </a:solidFill>
              </a:rPr>
              <a:t>results/bench.json is a CPU measurement (is_gpu_active: false).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1C1712"/>
                </a:solidFill>
              </a:rPr>
              <a:t>The MI300X column is a theoretical roofline lower-bound estimate, not measured.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1C1712"/>
                </a:solidFill>
              </a:rPr>
              <a:t>Formula: lower_bound_seconds = (working_set_mb * 1024 * 1024) / (5.3e12).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1C1712"/>
                </a:solidFill>
              </a:rPr>
              <a:t>No AMD GPU measurement is in the repo unless a sibling benchmark JSON says ran_on_amd_gpu: true. Do not narrate a speedup.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60120"/>
          </a:xfrm>
          <a:prstGeom prst="rect">
            <a:avLst/>
          </a:prstGeom>
          <a:solidFill>
            <a:srgbClr val="1E3A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01168"/>
            <a:ext cx="113690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FBF7F0"/>
                </a:solidFill>
              </a:rPr>
              <a:t>8. Evidence, with the baseline named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34440"/>
            <a:ext cx="112776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>
                <a:solidFill>
                  <a:srgbClr val="1C1712"/>
                </a:solidFill>
              </a:rPr>
              <a:t>Self-play (results/self_play_benchmark.md): engine savings versus that table's walk-away ceiling run from 8.8% to 20.0%. Hard-Bargainer 8.8% versus the fixed baseline 9.2%. 20 matches, 5 archetypes, seed 42. Not the auction headline.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1C1712"/>
                </a:solidFill>
              </a:rPr>
              <a:t>Real-model log, different experiment: Bluffing Hardliner deal rate 61.11%. 0 budget violations in 94 completed matches.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1C1712"/>
                </a:solidFill>
              </a:rPr>
              <a:t>Held-out intent accuracy on the synthetic set: 63.08% (195 of 500 held out).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1C1712"/>
                </a:solidFill>
              </a:rPr>
              <a:t>Auction headline is savings versus the first-round best quote. Versus target is shown, including when that figure is negative. The walk-away ceiling figure is secondary.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1C1712"/>
                </a:solidFill>
              </a:rPr>
              <a:t>Headline savings vs first-round best quote: 5.0% (¥6,600.00 total)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1C1712"/>
                </a:solidFill>
              </a:rPr>
              <a:t>Versus target: -5.0% (¥-6,000.00 total). A negative figure means the settled price is above target.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1C1712"/>
                </a:solidFill>
              </a:rPr>
              <a:t>Secondary, versus walk-away ceiling: 22.2% (¥36,000.00 total)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1C1712"/>
                </a:solidFill>
              </a:rPr>
              <a:t>Offline comparison results/llm_vs_tradeflow.json: 24 episodes, seed 42, buyer offline_accept_opening. Not an AMD call. TradeFlow budget violations 0.00%, deal rate 50.00%, average savings versus the supplier opening 22.24%. Stand-in budget violations 100.00%, deal rate 100.00%, average savings 0.00%. Simulation. Not the auction headline.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60120"/>
          </a:xfrm>
          <a:prstGeom prst="rect">
            <a:avLst/>
          </a:prstGeom>
          <a:solidFill>
            <a:srgbClr val="1E3A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01168"/>
            <a:ext cx="113690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FBF7F0"/>
                </a:solidFill>
              </a:rPr>
              <a:t>9. Limits and 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34440"/>
            <a:ext cx="112776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>
                <a:solidFill>
                  <a:srgbClr val="1C1712"/>
                </a:solidFill>
              </a:rPr>
              <a:t>cp .env.example .env &amp;&amp; docker compose up --build, then open http://localhost:8000. render.yaml is the public-demo blueprint. No hostname is claimed until a deploy exists.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1C1712"/>
                </a:solidFill>
              </a:rPr>
              <a:t>Placeholder keys are ignored. /health reports offline_demo and the solver backend. AMD live mode stays off unless a real VLLM_API_KEY is set and the operator turns it on.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1C1712"/>
                </a:solidFill>
              </a:rPr>
              <a:t>No factory deal. No shipped MI300X timing. No committed Gemma latency. MIT. Public repo.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1C1712"/>
                </a:solidFill>
              </a:rPr>
              <a:t>Roadmap: keep the human on the send button, log a real Gemma chat only when a key is present, and publish extraction accuracy only after that log exists.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1C1712"/>
                </a:solidFill>
              </a:rPr>
              <a:t>Deadline per third-party listing: 18 Oct 2026 23:59 UTC (19 Oct 00:59 BST); on-site Luma pages list 16:00 local on 18 Oct; confirm on lablab.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